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NFT volume / sales</c:v>
                </c:pt>
              </c:strCache>
            </c:strRef>
          </c:tx>
          <c:spPr>
            <a:solidFill>
              <a:srgbClr val="0D6F58"/>
            </a:solidFill>
          </c:spPr>
          <c:cat>
            <c:strRef>
              <c:f>Sheet1!$A$2:$A$4</c:f>
              <c:strCache>
                <c:ptCount val="3"/>
                <c:pt idx="0">
                  <c:v>H1 2025</c:v>
                </c:pt>
                <c:pt idx="1">
                  <c:v>Q3 2025</c:v>
                </c:pt>
                <c:pt idx="2">
                  <c:v>2025 annualized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2.82</c:v>
                </c:pt>
                <c:pt idx="1">
                  <c:v>1.6</c:v>
                </c:pt>
                <c:pt idx="2">
                  <c:v>5.5</c:v>
                </c:pt>
              </c:numCache>
            </c:numRef>
          </c:val>
        </c:ser>
        <c:dLbls>
          <c:numFmt formatCode="$0.0B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0" y="0"/>
            <a:ext cx="4517136" cy="164592"/>
          </a:xfrm>
          <a:prstGeom prst="rect">
            <a:avLst/>
          </a:prstGeom>
          <a:solidFill>
            <a:srgbClr val="BC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2651760" cy="384048"/>
          </a:xfrm>
          <a:prstGeom prst="roundRect">
            <a:avLst/>
          </a:prstGeom>
          <a:solidFill>
            <a:srgbClr val="EFF7F6"/>
          </a:solidFill>
          <a:ln>
            <a:solidFill>
              <a:srgbClr val="00F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D6F58"/>
                </a:solidFill>
                <a:latin typeface="Aptos"/>
              </a:rPr>
              <a:t>SOLANA HACKATHON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8046720" cy="10972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5400" b="1">
                <a:solidFill>
                  <a:srgbClr val="111820"/>
                </a:solidFill>
                <a:latin typeface="Aptos"/>
              </a:rPr>
              <a:t>NFT Massacre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267712"/>
            <a:ext cx="7863840" cy="6583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200" b="0">
                <a:solidFill>
                  <a:srgbClr val="566170"/>
                </a:solidFill>
                <a:latin typeface="Aptos"/>
              </a:rPr>
              <a:t>A wallet-native GameFi prototype where your NFTs become NPCs you can fight.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078992"/>
            <a:ext cx="3383280" cy="2103120"/>
          </a:xfrm>
          <a:prstGeom prst="roundRect">
            <a:avLst/>
          </a:prstGeom>
          <a:solidFill>
            <a:srgbClr val="EFF7F6"/>
          </a:solidFill>
          <a:ln>
            <a:solidFill>
              <a:srgbClr val="CC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55279" y="1078992"/>
            <a:ext cx="73152" cy="2103120"/>
          </a:xfrm>
          <a:prstGeom prst="rect">
            <a:avLst/>
          </a:prstGeom>
          <a:solidFill>
            <a:srgbClr val="BC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243584"/>
            <a:ext cx="29718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700" b="1">
                <a:solidFill>
                  <a:srgbClr val="111820"/>
                </a:solidFill>
                <a:latin typeface="Aptos"/>
              </a:rPr>
              <a:t>Tagline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1673352"/>
            <a:ext cx="2971800" cy="137159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566170"/>
                </a:solidFill>
                <a:latin typeface="Aptos"/>
              </a:rPr>
              <a:t>We are not building another NFT viewer. We are making wallet contents playable.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3456432"/>
            <a:ext cx="3383280" cy="1508760"/>
          </a:xfrm>
          <a:prstGeom prst="roundRect">
            <a:avLst/>
          </a:prstGeom>
          <a:solidFill>
            <a:srgbClr val="EFF7F6"/>
          </a:solidFill>
          <a:ln>
            <a:solidFill>
              <a:srgbClr val="CC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79" y="3456432"/>
            <a:ext cx="73152" cy="150876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3621024"/>
            <a:ext cx="29718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700" b="1">
                <a:solidFill>
                  <a:srgbClr val="111820"/>
                </a:solidFill>
                <a:latin typeface="Aptos"/>
              </a:rPr>
              <a:t>Demo 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4050791"/>
            <a:ext cx="2971800" cy="77723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566170"/>
                </a:solidFill>
                <a:latin typeface="Aptos"/>
              </a:rPr>
              <a:t>nftmassacre.github.io
Try ?solanademo=yes for a fast Solana demo.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510528"/>
            <a:ext cx="54864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566170"/>
                </a:solidFill>
                <a:latin typeface="Aptos"/>
              </a:rPr>
              <a:t>NFT Massacre | Solana Hackathon Pitch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10528"/>
            <a:ext cx="4572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56617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0" y="0"/>
            <a:ext cx="4517136" cy="164592"/>
          </a:xfrm>
          <a:prstGeom prst="rect">
            <a:avLst/>
          </a:prstGeom>
          <a:solidFill>
            <a:srgbClr val="BC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972800" cy="6400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3400" b="1">
                <a:solidFill>
                  <a:srgbClr val="111820"/>
                </a:solidFill>
                <a:latin typeface="Aptos"/>
              </a:rPr>
              <a:t>The Market Is Smaller, Weirder, And Still Alive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24712"/>
            <a:ext cx="10607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566170"/>
                </a:solidFill>
                <a:latin typeface="Aptos"/>
              </a:rPr>
              <a:t>The 2022 viral cycle is gone. That makes the product opportunity more interesting.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3474720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3400" b="1">
                <a:solidFill>
                  <a:srgbClr val="D62334"/>
                </a:solidFill>
                <a:latin typeface="Aptos"/>
              </a:rPr>
              <a:t>$5.5B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50592"/>
            <a:ext cx="3474720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0">
                <a:solidFill>
                  <a:srgbClr val="566170"/>
                </a:solidFill>
                <a:latin typeface="Aptos"/>
              </a:rPr>
              <a:t>annualized 2025 NFT trade volume per The Block; down from prior highs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828800"/>
            <a:ext cx="3474720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3400" b="1">
                <a:solidFill>
                  <a:srgbClr val="0D6F58"/>
                </a:solidFill>
                <a:latin typeface="Aptos"/>
              </a:rPr>
              <a:t>$2.82B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450592"/>
            <a:ext cx="3474720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0">
                <a:solidFill>
                  <a:srgbClr val="566170"/>
                </a:solidFill>
                <a:latin typeface="Aptos"/>
              </a:rPr>
              <a:t>NFT sales in H1 2025 per CryptoSlam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1828800"/>
            <a:ext cx="3474720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3400" b="1">
                <a:solidFill>
                  <a:srgbClr val="BC44FF"/>
                </a:solidFill>
                <a:latin typeface="Aptos"/>
              </a:rPr>
              <a:t>18.1M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2450592"/>
            <a:ext cx="3474720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0">
                <a:solidFill>
                  <a:srgbClr val="566170"/>
                </a:solidFill>
                <a:latin typeface="Aptos"/>
              </a:rPr>
              <a:t>NFTs sold in Q3 2025 per DappRadar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1828800"/>
            <a:ext cx="3474720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3400" b="1">
                <a:solidFill>
                  <a:srgbClr val="F47E33"/>
                </a:solidFill>
                <a:latin typeface="Aptos"/>
              </a:rPr>
              <a:t>+91.7%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2450592"/>
            <a:ext cx="3474720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0">
                <a:solidFill>
                  <a:srgbClr val="566170"/>
                </a:solidFill>
                <a:latin typeface="Aptos"/>
              </a:rPr>
              <a:t>weekly NFT buyer activity jump in Apr 2026 CryptoSlam coverage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730752"/>
            <a:ext cx="10515600" cy="1325880"/>
          </a:xfrm>
          <a:prstGeom prst="roundRect">
            <a:avLst/>
          </a:prstGeom>
          <a:solidFill>
            <a:srgbClr val="EFF7F6"/>
          </a:solidFill>
          <a:ln>
            <a:solidFill>
              <a:srgbClr val="CC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730752"/>
            <a:ext cx="73152" cy="132588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895344"/>
            <a:ext cx="101041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700" b="1">
                <a:solidFill>
                  <a:srgbClr val="111820"/>
                </a:solidFill>
                <a:latin typeface="Aptos"/>
              </a:rPr>
              <a:t>Interpretation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325112"/>
            <a:ext cx="10104120" cy="59435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566170"/>
                </a:solidFill>
                <a:latin typeface="Aptos"/>
              </a:rPr>
              <a:t>NFTs are no longer in blanket mania. Volumes are lower, prices are cheaper, but transaction activity and buyer spikes show that the long tail still moves when there is a reason to care.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510528"/>
            <a:ext cx="54864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566170"/>
                </a:solidFill>
                <a:latin typeface="Aptos"/>
              </a:rPr>
              <a:t>NFT Massacre | Solana Hackathon Pitch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510528"/>
            <a:ext cx="4572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566170"/>
                </a:solidFill>
                <a:latin typeface="Aptos"/>
              </a:rPr>
              <a:t>2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777240" y="5257800"/>
          <a:ext cx="5029200" cy="960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0" y="0"/>
            <a:ext cx="4517136" cy="164592"/>
          </a:xfrm>
          <a:prstGeom prst="rect">
            <a:avLst/>
          </a:prstGeom>
          <a:solidFill>
            <a:srgbClr val="BC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972800" cy="6400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3400" b="1">
                <a:solidFill>
                  <a:srgbClr val="111820"/>
                </a:solidFill>
                <a:latin typeface="Aptos"/>
              </a:rPr>
              <a:t>Problem: NFTs Became Passive 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24712"/>
            <a:ext cx="10607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566170"/>
                </a:solidFill>
                <a:latin typeface="Aptos"/>
              </a:rPr>
              <a:t>Most holders have assets they do not use, do not sell, and barely look 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5120640" cy="3474720"/>
          </a:xfrm>
          <a:prstGeom prst="rect">
            <a:avLst/>
          </a:prstGeom>
          <a:noFill/>
        </p:spPr>
        <p:txBody>
          <a:bodyPr wrap="none" lIns="1828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11820"/>
                </a:solidFill>
                <a:latin typeface="Aptos"/>
              </a:defRPr>
            </a:pPr>
            <a:r>
              <a:t>NFT apps still mostly display collections like museum shelves.</a:t>
            </a:r>
          </a:p>
          <a:p>
            <a:pPr>
              <a:spcAft>
                <a:spcPts val="800"/>
              </a:spcAft>
              <a:defRPr sz="1800">
                <a:solidFill>
                  <a:srgbClr val="111820"/>
                </a:solidFill>
                <a:latin typeface="Aptos"/>
              </a:defRPr>
            </a:pPr>
            <a:r>
              <a:t>Dead floors and abandoned roadmaps created emotional baggage.</a:t>
            </a:r>
          </a:p>
          <a:p>
            <a:pPr>
              <a:spcAft>
                <a:spcPts val="800"/>
              </a:spcAft>
              <a:defRPr sz="1800">
                <a:solidFill>
                  <a:srgbClr val="111820"/>
                </a:solidFill>
                <a:latin typeface="Aptos"/>
              </a:defRPr>
            </a:pPr>
            <a:r>
              <a:t>Collections need new reasons for holders to click, share, and return.</a:t>
            </a:r>
          </a:p>
          <a:p>
            <a:pPr>
              <a:spcAft>
                <a:spcPts val="800"/>
              </a:spcAft>
              <a:defRPr sz="1800">
                <a:solidFill>
                  <a:srgbClr val="111820"/>
                </a:solidFill>
                <a:latin typeface="Aptos"/>
              </a:defRPr>
            </a:pPr>
            <a:r>
              <a:t>The market needs utility that is funny before it asks to be financial.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00200"/>
            <a:ext cx="4297680" cy="1920240"/>
          </a:xfrm>
          <a:prstGeom prst="roundRect">
            <a:avLst/>
          </a:prstGeom>
          <a:solidFill>
            <a:srgbClr val="EFF7F6"/>
          </a:solidFill>
          <a:ln>
            <a:solidFill>
              <a:srgbClr val="CC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600200"/>
            <a:ext cx="73152" cy="1920240"/>
          </a:xfrm>
          <a:prstGeom prst="rect">
            <a:avLst/>
          </a:prstGeom>
          <a:solidFill>
            <a:srgbClr val="D6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764792"/>
            <a:ext cx="38862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700" b="1">
                <a:solidFill>
                  <a:srgbClr val="111820"/>
                </a:solidFill>
                <a:latin typeface="Aptos"/>
              </a:rPr>
              <a:t>Snark, But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194560"/>
            <a:ext cx="3886200" cy="11887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566170"/>
                </a:solidFill>
                <a:latin typeface="Aptos"/>
              </a:rPr>
              <a:t>The era when every animal picture with a roadmap could pretend to be infrastructure is over.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794760"/>
            <a:ext cx="4297680" cy="1417320"/>
          </a:xfrm>
          <a:prstGeom prst="roundRect">
            <a:avLst/>
          </a:prstGeom>
          <a:solidFill>
            <a:srgbClr val="EFF7F6"/>
          </a:solidFill>
          <a:ln>
            <a:solidFill>
              <a:srgbClr val="CC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3794760"/>
            <a:ext cx="73152" cy="1417320"/>
          </a:xfrm>
          <a:prstGeom prst="rect">
            <a:avLst/>
          </a:prstGeom>
          <a:solidFill>
            <a:srgbClr val="BC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3959352"/>
            <a:ext cx="38862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700" b="1">
                <a:solidFill>
                  <a:srgbClr val="111820"/>
                </a:solidFill>
                <a:latin typeface="Aptos"/>
              </a:rPr>
              <a:t>Opportunity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389120"/>
            <a:ext cx="3886200" cy="6858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566170"/>
                </a:solidFill>
                <a:latin typeface="Aptos"/>
              </a:rPr>
              <a:t>Even a bad hold can become good content.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510528"/>
            <a:ext cx="54864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566170"/>
                </a:solidFill>
                <a:latin typeface="Aptos"/>
              </a:rPr>
              <a:t>NFT Massacre | Solana Hackathon Pitch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10528"/>
            <a:ext cx="4572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566170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0" y="0"/>
            <a:ext cx="4517136" cy="164592"/>
          </a:xfrm>
          <a:prstGeom prst="rect">
            <a:avLst/>
          </a:prstGeom>
          <a:solidFill>
            <a:srgbClr val="BC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972800" cy="6400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3400" b="1">
                <a:solidFill>
                  <a:srgbClr val="111820"/>
                </a:solidFill>
                <a:latin typeface="Aptos"/>
              </a:rPr>
              <a:t>Solution: Turn Wallet State Into Game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24712"/>
            <a:ext cx="10607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566170"/>
                </a:solidFill>
                <a:latin typeface="Aptos"/>
              </a:rPr>
              <a:t>Your wallet becomes the level. Your NFTs become the target roster.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337560" cy="1920240"/>
          </a:xfrm>
          <a:prstGeom prst="roundRect">
            <a:avLst/>
          </a:prstGeom>
          <a:solidFill>
            <a:srgbClr val="EFF7F6"/>
          </a:solidFill>
          <a:ln>
            <a:solidFill>
              <a:srgbClr val="CC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73152" cy="192024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64792"/>
            <a:ext cx="2926079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700" b="1">
                <a:solidFill>
                  <a:srgbClr val="111820"/>
                </a:solidFill>
                <a:latin typeface="Aptos"/>
              </a:rPr>
              <a:t>Wallet 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2926079" cy="11887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566170"/>
                </a:solidFill>
                <a:latin typeface="Aptos"/>
              </a:rPr>
              <a:t>Paste a Solana or Ethereum address. The app detects chain and loads wallet assets.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00200"/>
            <a:ext cx="3337560" cy="1920240"/>
          </a:xfrm>
          <a:prstGeom prst="roundRect">
            <a:avLst/>
          </a:prstGeom>
          <a:solidFill>
            <a:srgbClr val="EFF7F6"/>
          </a:solidFill>
          <a:ln>
            <a:solidFill>
              <a:srgbClr val="CC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00200"/>
            <a:ext cx="73152" cy="1920240"/>
          </a:xfrm>
          <a:prstGeom prst="rect">
            <a:avLst/>
          </a:prstGeom>
          <a:solidFill>
            <a:srgbClr val="BC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764792"/>
            <a:ext cx="2926079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700" b="1">
                <a:solidFill>
                  <a:srgbClr val="111820"/>
                </a:solidFill>
                <a:latin typeface="Aptos"/>
              </a:rPr>
              <a:t>Asset Transform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194560"/>
            <a:ext cx="2926079" cy="11887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566170"/>
                </a:solidFill>
                <a:latin typeface="Aptos"/>
              </a:rPr>
              <a:t>NFT metadata and images become in-world NPCs, targets, and visual identity.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600200"/>
            <a:ext cx="3337560" cy="1920240"/>
          </a:xfrm>
          <a:prstGeom prst="roundRect">
            <a:avLst/>
          </a:prstGeom>
          <a:solidFill>
            <a:srgbClr val="EFF7F6"/>
          </a:solidFill>
          <a:ln>
            <a:solidFill>
              <a:srgbClr val="CC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600200"/>
            <a:ext cx="73152" cy="1920240"/>
          </a:xfrm>
          <a:prstGeom prst="rect">
            <a:avLst/>
          </a:prstGeom>
          <a:solidFill>
            <a:srgbClr val="F47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764792"/>
            <a:ext cx="2926079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700" b="1">
                <a:solidFill>
                  <a:srgbClr val="111820"/>
                </a:solidFill>
                <a:latin typeface="Aptos"/>
              </a:rPr>
              <a:t>Gameplay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194560"/>
            <a:ext cx="2926079" cy="11887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566170"/>
                </a:solidFill>
                <a:latin typeface="Aptos"/>
              </a:rPr>
              <a:t>Walk, target, punch, clear the arena, and generate a session unique to that wallet.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9875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2300" b="1">
                <a:solidFill>
                  <a:srgbClr val="111820"/>
                </a:solidFill>
                <a:latin typeface="Aptos"/>
              </a:rPr>
              <a:t>Core product thesis: onchain inventory is not adjacent to the game. Onchain inventory is the game.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510528"/>
            <a:ext cx="54864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566170"/>
                </a:solidFill>
                <a:latin typeface="Aptos"/>
              </a:rPr>
              <a:t>NFT Massacre | Solana Hackathon Pitch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10528"/>
            <a:ext cx="4572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566170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0" y="0"/>
            <a:ext cx="4517136" cy="164592"/>
          </a:xfrm>
          <a:prstGeom prst="rect">
            <a:avLst/>
          </a:prstGeom>
          <a:solidFill>
            <a:srgbClr val="BC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972800" cy="6400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3400" b="1">
                <a:solidFill>
                  <a:srgbClr val="111820"/>
                </a:solidFill>
                <a:latin typeface="Aptos"/>
              </a:rPr>
              <a:t>Demo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24712"/>
            <a:ext cx="10607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566170"/>
                </a:solidFill>
                <a:latin typeface="Aptos"/>
              </a:rPr>
              <a:t>Designed to make judges understand the product in under 30 seconds.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5120640" cy="4297680"/>
          </a:xfrm>
          <a:prstGeom prst="rect">
            <a:avLst/>
          </a:prstGeom>
          <a:noFill/>
        </p:spPr>
        <p:txBody>
          <a:bodyPr wrap="none" lIns="1828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11820"/>
                </a:solidFill>
                <a:latin typeface="Aptos"/>
              </a:defRPr>
            </a:pPr>
            <a:r>
              <a:t>1. Open NFT Massacre.</a:t>
            </a:r>
          </a:p>
          <a:p>
            <a:pPr>
              <a:spcAft>
                <a:spcPts val="800"/>
              </a:spcAft>
              <a:defRPr sz="1900">
                <a:solidFill>
                  <a:srgbClr val="111820"/>
                </a:solidFill>
                <a:latin typeface="Aptos"/>
              </a:defRPr>
            </a:pPr>
            <a:r>
              <a:t>2. Use the Solana demo wallet or paste a wallet address.</a:t>
            </a:r>
          </a:p>
          <a:p>
            <a:pPr>
              <a:spcAft>
                <a:spcPts val="800"/>
              </a:spcAft>
              <a:defRPr sz="1900">
                <a:solidFill>
                  <a:srgbClr val="111820"/>
                </a:solidFill>
                <a:latin typeface="Aptos"/>
              </a:defRPr>
            </a:pPr>
            <a:r>
              <a:t>3. NFTs spawn as NPCs inside the arena.</a:t>
            </a:r>
          </a:p>
          <a:p>
            <a:pPr>
              <a:spcAft>
                <a:spcPts val="800"/>
              </a:spcAft>
              <a:defRPr sz="1900">
                <a:solidFill>
                  <a:srgbClr val="111820"/>
                </a:solidFill>
                <a:latin typeface="Aptos"/>
              </a:defRPr>
            </a:pPr>
            <a:r>
              <a:t>4. Player targets and kills NFT NPCs.</a:t>
            </a:r>
          </a:p>
          <a:p>
            <a:pPr>
              <a:spcAft>
                <a:spcPts val="800"/>
              </a:spcAft>
              <a:defRPr sz="1900">
                <a:solidFill>
                  <a:srgbClr val="111820"/>
                </a:solidFill>
                <a:latin typeface="Aptos"/>
              </a:defRPr>
            </a:pPr>
            <a:r>
              <a:t>5. The wallet becomes a joke, a game, and a shareable clip.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74519"/>
            <a:ext cx="4389120" cy="2286000"/>
          </a:xfrm>
          <a:prstGeom prst="roundRect">
            <a:avLst/>
          </a:prstGeom>
          <a:solidFill>
            <a:srgbClr val="EFF7F6"/>
          </a:solidFill>
          <a:ln>
            <a:solidFill>
              <a:srgbClr val="CC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874519"/>
            <a:ext cx="73152" cy="228600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039112"/>
            <a:ext cx="3977639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700" b="1">
                <a:solidFill>
                  <a:srgbClr val="111820"/>
                </a:solidFill>
                <a:latin typeface="Aptos"/>
              </a:rPr>
              <a:t>Why It Can Go Viral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468879"/>
            <a:ext cx="3977639" cy="1554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566170"/>
                </a:solidFill>
                <a:latin typeface="Aptos"/>
              </a:rPr>
              <a:t>It is legible instantly: people who made bad NFT trades can symbolically fight their bags. It is also ridiculous enough to post.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510528"/>
            <a:ext cx="54864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566170"/>
                </a:solidFill>
                <a:latin typeface="Aptos"/>
              </a:rPr>
              <a:t>NFT Massacre | Solana Hackathon Pitch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10528"/>
            <a:ext cx="4572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566170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0" y="0"/>
            <a:ext cx="4517136" cy="164592"/>
          </a:xfrm>
          <a:prstGeom prst="rect">
            <a:avLst/>
          </a:prstGeom>
          <a:solidFill>
            <a:srgbClr val="BC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972800" cy="6400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3400" b="1">
                <a:solidFill>
                  <a:srgbClr val="111820"/>
                </a:solidFill>
                <a:latin typeface="Aptos"/>
              </a:rPr>
              <a:t>Why Solana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24712"/>
            <a:ext cx="10607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566170"/>
                </a:solidFill>
                <a:latin typeface="Aptos"/>
              </a:rPr>
              <a:t>Solana makes the game loop cheaper, faster, and more practical.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5212080" cy="3840480"/>
          </a:xfrm>
          <a:prstGeom prst="rect">
            <a:avLst/>
          </a:prstGeom>
          <a:noFill/>
        </p:spPr>
        <p:txBody>
          <a:bodyPr wrap="none" lIns="1828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11820"/>
                </a:solidFill>
                <a:latin typeface="Aptos"/>
              </a:defRPr>
            </a:pPr>
            <a:r>
              <a:t>Fast wallet reads and low-friction transactions fit gameplay.</a:t>
            </a:r>
          </a:p>
          <a:p>
            <a:pPr>
              <a:spcAft>
                <a:spcPts val="800"/>
              </a:spcAft>
              <a:defRPr sz="1800">
                <a:solidFill>
                  <a:srgbClr val="111820"/>
                </a:solidFill>
                <a:latin typeface="Aptos"/>
              </a:defRPr>
            </a:pPr>
            <a:r>
              <a:t>Onchain rewards, badges, progression, and seasonal events become realistic.</a:t>
            </a:r>
          </a:p>
          <a:p>
            <a:pPr>
              <a:spcAft>
                <a:spcPts val="800"/>
              </a:spcAft>
              <a:defRPr sz="1800">
                <a:solidFill>
                  <a:srgbClr val="111820"/>
                </a:solidFill>
                <a:latin typeface="Aptos"/>
              </a:defRPr>
            </a:pPr>
            <a:r>
              <a:t>Compressed NFT support can unlock high-volume, game-scale assets.</a:t>
            </a:r>
          </a:p>
          <a:p>
            <a:pPr>
              <a:spcAft>
                <a:spcPts val="800"/>
              </a:spcAft>
              <a:defRPr sz="1800">
                <a:solidFill>
                  <a:srgbClr val="111820"/>
                </a:solidFill>
                <a:latin typeface="Aptos"/>
              </a:defRPr>
            </a:pPr>
            <a:r>
              <a:t>The ecosystem understands memes, speed, and consumer crypto.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691640"/>
            <a:ext cx="4251960" cy="1828800"/>
          </a:xfrm>
          <a:prstGeom prst="roundRect">
            <a:avLst/>
          </a:prstGeom>
          <a:solidFill>
            <a:srgbClr val="EFF7F6"/>
          </a:solidFill>
          <a:ln>
            <a:solidFill>
              <a:srgbClr val="CC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92240" y="1691640"/>
            <a:ext cx="73152" cy="1828800"/>
          </a:xfrm>
          <a:prstGeom prst="rect">
            <a:avLst/>
          </a:prstGeom>
          <a:solidFill>
            <a:srgbClr val="BC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856232"/>
            <a:ext cx="384048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700" b="1">
                <a:solidFill>
                  <a:srgbClr val="111820"/>
                </a:solidFill>
                <a:latin typeface="Aptos"/>
              </a:rPr>
              <a:t>Hackathon Claim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286000"/>
            <a:ext cx="3840480" cy="10972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566170"/>
                </a:solidFill>
                <a:latin typeface="Aptos"/>
              </a:rPr>
              <a:t>Solana is the gameplay layer where wallet-native content can become fast enough to feel like a product, not a blockchain chore.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3840480"/>
            <a:ext cx="4251960" cy="1371600"/>
          </a:xfrm>
          <a:prstGeom prst="roundRect">
            <a:avLst/>
          </a:prstGeom>
          <a:solidFill>
            <a:srgbClr val="EFF7F6"/>
          </a:solidFill>
          <a:ln>
            <a:solidFill>
              <a:srgbClr val="CC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3840480"/>
            <a:ext cx="73152" cy="137160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4005072"/>
            <a:ext cx="384048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700" b="1">
                <a:solidFill>
                  <a:srgbClr val="111820"/>
                </a:solidFill>
                <a:latin typeface="Aptos"/>
              </a:rPr>
              <a:t>Current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4434840"/>
            <a:ext cx="3840480" cy="6400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566170"/>
                </a:solidFill>
                <a:latin typeface="Aptos"/>
              </a:rPr>
              <a:t>Solana demo support is already in the browser prototype.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510528"/>
            <a:ext cx="54864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566170"/>
                </a:solidFill>
                <a:latin typeface="Aptos"/>
              </a:rPr>
              <a:t>NFT Massacre | Solana Hackathon Pitch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10528"/>
            <a:ext cx="4572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56617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0" y="0"/>
            <a:ext cx="4517136" cy="164592"/>
          </a:xfrm>
          <a:prstGeom prst="rect">
            <a:avLst/>
          </a:prstGeom>
          <a:solidFill>
            <a:srgbClr val="BC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972800" cy="6400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3400" b="1">
                <a:solidFill>
                  <a:srgbClr val="111820"/>
                </a:solidFill>
                <a:latin typeface="Aptos"/>
              </a:rPr>
              <a:t>Why Ethereum Still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24712"/>
            <a:ext cx="10607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566170"/>
                </a:solidFill>
                <a:latin typeface="Aptos"/>
              </a:rPr>
              <a:t>A lot of dead NFT collections are on Ethereum. That is content inventory.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486400" cy="4023360"/>
          </a:xfrm>
          <a:prstGeom prst="rect">
            <a:avLst/>
          </a:prstGeom>
          <a:noFill/>
        </p:spPr>
        <p:txBody>
          <a:bodyPr wrap="none" lIns="1828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11820"/>
                </a:solidFill>
                <a:latin typeface="Aptos"/>
              </a:defRPr>
            </a:pPr>
            <a:r>
              <a:t>Ethereum holds much of the 2021-2022 NFT cultural memory.</a:t>
            </a:r>
          </a:p>
          <a:p>
            <a:pPr>
              <a:spcAft>
                <a:spcPts val="800"/>
              </a:spcAft>
              <a:defRPr sz="1800">
                <a:solidFill>
                  <a:srgbClr val="111820"/>
                </a:solidFill>
                <a:latin typeface="Aptos"/>
              </a:defRPr>
            </a:pPr>
            <a:r>
              <a:t>Many abandoned collections still have holders, art, metadata, and recognizable brands.</a:t>
            </a:r>
          </a:p>
          <a:p>
            <a:pPr>
              <a:spcAft>
                <a:spcPts val="800"/>
              </a:spcAft>
              <a:defRPr sz="1800">
                <a:solidFill>
                  <a:srgbClr val="111820"/>
                </a:solidFill>
                <a:latin typeface="Aptos"/>
              </a:defRPr>
            </a:pPr>
            <a:r>
              <a:t>Supporting Ethereum makes the addressable content pool much larger.</a:t>
            </a:r>
          </a:p>
          <a:p>
            <a:pPr>
              <a:spcAft>
                <a:spcPts val="800"/>
              </a:spcAft>
              <a:defRPr sz="1800">
                <a:solidFill>
                  <a:srgbClr val="111820"/>
                </a:solidFill>
                <a:latin typeface="Aptos"/>
              </a:defRPr>
            </a:pPr>
            <a:r>
              <a:t>The joke travels: Solana gameplay can resurrect Ethereum-era assets.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828800"/>
            <a:ext cx="4343400" cy="2560320"/>
          </a:xfrm>
          <a:prstGeom prst="roundRect">
            <a:avLst/>
          </a:prstGeom>
          <a:solidFill>
            <a:srgbClr val="EFF7F6"/>
          </a:solidFill>
          <a:ln>
            <a:solidFill>
              <a:srgbClr val="CC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29400" y="1828800"/>
            <a:ext cx="73152" cy="2560320"/>
          </a:xfrm>
          <a:prstGeom prst="rect">
            <a:avLst/>
          </a:prstGeom>
          <a:solidFill>
            <a:srgbClr val="F47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993392"/>
            <a:ext cx="39319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700" b="1">
                <a:solidFill>
                  <a:srgbClr val="111820"/>
                </a:solidFill>
                <a:latin typeface="Aptos"/>
              </a:rPr>
              <a:t>Multichain Pitch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423160"/>
            <a:ext cx="3931920" cy="182879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566170"/>
                </a:solidFill>
                <a:latin typeface="Aptos"/>
              </a:rPr>
              <a:t>Solana is the fast arena. Ethereum is the graveyard full of characters. NFT Massacre turns both into playable material.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510528"/>
            <a:ext cx="54864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566170"/>
                </a:solidFill>
                <a:latin typeface="Aptos"/>
              </a:rPr>
              <a:t>NFT Massacre | Solana Hackathon Pitch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10528"/>
            <a:ext cx="4572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566170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0" y="0"/>
            <a:ext cx="4517136" cy="164592"/>
          </a:xfrm>
          <a:prstGeom prst="rect">
            <a:avLst/>
          </a:prstGeom>
          <a:solidFill>
            <a:srgbClr val="BC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972800" cy="6400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3400" b="1">
                <a:solidFill>
                  <a:srgbClr val="111820"/>
                </a:solidFill>
                <a:latin typeface="Aptos"/>
              </a:rPr>
              <a:t>Business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24712"/>
            <a:ext cx="10607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566170"/>
                </a:solidFill>
                <a:latin typeface="Aptos"/>
              </a:rPr>
              <a:t>This is more than a single joke. It is a reusable wallet-native game format.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383280" cy="1600200"/>
          </a:xfrm>
          <a:prstGeom prst="roundRect">
            <a:avLst/>
          </a:prstGeom>
          <a:solidFill>
            <a:srgbClr val="EFF7F6"/>
          </a:solidFill>
          <a:ln>
            <a:solidFill>
              <a:srgbClr val="CC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73152" cy="160020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73351"/>
            <a:ext cx="29718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700" b="1">
                <a:solidFill>
                  <a:srgbClr val="111820"/>
                </a:solidFill>
                <a:latin typeface="Aptos"/>
              </a:rPr>
              <a:t>Collection Revival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2971800" cy="8686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566170"/>
                </a:solidFill>
                <a:latin typeface="Aptos"/>
              </a:rPr>
              <a:t>Old projects can turn NFTs into enemies, abilities, arenas, quests, or bosses.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08760"/>
            <a:ext cx="3383280" cy="1600200"/>
          </a:xfrm>
          <a:prstGeom prst="roundRect">
            <a:avLst/>
          </a:prstGeom>
          <a:solidFill>
            <a:srgbClr val="EFF7F6"/>
          </a:solidFill>
          <a:ln>
            <a:solidFill>
              <a:srgbClr val="CC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08760"/>
            <a:ext cx="73152" cy="1600200"/>
          </a:xfrm>
          <a:prstGeom prst="rect">
            <a:avLst/>
          </a:prstGeom>
          <a:solidFill>
            <a:srgbClr val="BC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673351"/>
            <a:ext cx="29718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700" b="1">
                <a:solidFill>
                  <a:srgbClr val="111820"/>
                </a:solidFill>
                <a:latin typeface="Aptos"/>
              </a:rPr>
              <a:t>Campaigns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103120"/>
            <a:ext cx="2971800" cy="8686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566170"/>
                </a:solidFill>
                <a:latin typeface="Aptos"/>
              </a:rPr>
              <a:t>Brands and NFT communities can run kill events, faction wars, and seasonal challenges.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508760"/>
            <a:ext cx="3383280" cy="1600200"/>
          </a:xfrm>
          <a:prstGeom prst="roundRect">
            <a:avLst/>
          </a:prstGeom>
          <a:solidFill>
            <a:srgbClr val="EFF7F6"/>
          </a:solidFill>
          <a:ln>
            <a:solidFill>
              <a:srgbClr val="CC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508760"/>
            <a:ext cx="73152" cy="1600200"/>
          </a:xfrm>
          <a:prstGeom prst="rect">
            <a:avLst/>
          </a:prstGeom>
          <a:solidFill>
            <a:srgbClr val="F47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673351"/>
            <a:ext cx="29718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700" b="1">
                <a:solidFill>
                  <a:srgbClr val="111820"/>
                </a:solidFill>
                <a:latin typeface="Aptos"/>
              </a:rPr>
              <a:t>Loyalty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103120"/>
            <a:ext cx="2971800" cy="8686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566170"/>
                </a:solidFill>
                <a:latin typeface="Aptos"/>
              </a:rPr>
              <a:t>Wallet ownership can unlock powers, cosmetics, score multipliers, and badges.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49039"/>
            <a:ext cx="5257800" cy="1463040"/>
          </a:xfrm>
          <a:prstGeom prst="roundRect">
            <a:avLst/>
          </a:prstGeom>
          <a:solidFill>
            <a:srgbClr val="EFF7F6"/>
          </a:solidFill>
          <a:ln>
            <a:solidFill>
              <a:srgbClr val="CC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749039"/>
            <a:ext cx="73152" cy="1463040"/>
          </a:xfrm>
          <a:prstGeom prst="rect">
            <a:avLst/>
          </a:prstGeom>
          <a:solidFill>
            <a:srgbClr val="D6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913631"/>
            <a:ext cx="48463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700" b="1">
                <a:solidFill>
                  <a:srgbClr val="111820"/>
                </a:solidFill>
                <a:latin typeface="Aptos"/>
              </a:rPr>
              <a:t>Emotional Utility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43400"/>
            <a:ext cx="4846320" cy="7315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566170"/>
                </a:solidFill>
                <a:latin typeface="Aptos"/>
              </a:rPr>
              <a:t>For holders angry about bad trades, killing the NFT is symbolic catharsis.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749039"/>
            <a:ext cx="5257800" cy="1463040"/>
          </a:xfrm>
          <a:prstGeom prst="roundRect">
            <a:avLst/>
          </a:prstGeom>
          <a:solidFill>
            <a:srgbClr val="EFF7F6"/>
          </a:solidFill>
          <a:ln>
            <a:solidFill>
              <a:srgbClr val="CC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3749039"/>
            <a:ext cx="73152" cy="1463040"/>
          </a:xfrm>
          <a:prstGeom prst="rect">
            <a:avLst/>
          </a:prstGeom>
          <a:solidFill>
            <a:srgbClr val="305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3913631"/>
            <a:ext cx="48463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700" b="1">
                <a:solidFill>
                  <a:srgbClr val="111820"/>
                </a:solidFill>
                <a:latin typeface="Aptos"/>
              </a:rPr>
              <a:t>Commercial Utility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343400"/>
            <a:ext cx="4846320" cy="7315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566170"/>
                </a:solidFill>
                <a:latin typeface="Aptos"/>
              </a:rPr>
              <a:t>For projects, the same mechanic is a cheap way to make stale assets feel alive again.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510528"/>
            <a:ext cx="54864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566170"/>
                </a:solidFill>
                <a:latin typeface="Aptos"/>
              </a:rPr>
              <a:t>NFT Massacre | Solana Hackathon Pitch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510528"/>
            <a:ext cx="4572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566170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0" y="0"/>
            <a:ext cx="4517136" cy="164592"/>
          </a:xfrm>
          <a:prstGeom prst="rect">
            <a:avLst/>
          </a:prstGeom>
          <a:solidFill>
            <a:srgbClr val="BC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972800" cy="6400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3400" b="1">
                <a:solidFill>
                  <a:srgbClr val="111820"/>
                </a:solidFill>
                <a:latin typeface="Aptos"/>
              </a:rPr>
              <a:t>If We Win: Launch The Powered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24712"/>
            <a:ext cx="10607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566170"/>
                </a:solidFill>
                <a:latin typeface="Aptos"/>
              </a:rPr>
              <a:t>Hackathon funding becomes the first native NFT Massacre asset drop.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5349240" cy="4206240"/>
          </a:xfrm>
          <a:prstGeom prst="rect">
            <a:avLst/>
          </a:prstGeom>
          <a:noFill/>
        </p:spPr>
        <p:txBody>
          <a:bodyPr wrap="none" lIns="1828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11820"/>
                </a:solidFill>
                <a:latin typeface="Aptos"/>
              </a:defRPr>
            </a:pPr>
            <a:r>
              <a:t>Launch an NFT Massacre collection with special in-world powers.</a:t>
            </a:r>
          </a:p>
          <a:p>
            <a:pPr>
              <a:spcAft>
                <a:spcPts val="800"/>
              </a:spcAft>
              <a:defRPr sz="1800">
                <a:solidFill>
                  <a:srgbClr val="111820"/>
                </a:solidFill>
                <a:latin typeface="Aptos"/>
              </a:defRPr>
            </a:pPr>
            <a:r>
              <a:t>Examples: faster movement, stronger attacks, rare target radar, arena modifiers.</a:t>
            </a:r>
          </a:p>
          <a:p>
            <a:pPr>
              <a:spcAft>
                <a:spcPts val="800"/>
              </a:spcAft>
              <a:defRPr sz="1800">
                <a:solidFill>
                  <a:srgbClr val="111820"/>
                </a:solidFill>
                <a:latin typeface="Aptos"/>
              </a:defRPr>
            </a:pPr>
            <a:r>
              <a:t>Use Solana for minting and low-friction utility.</a:t>
            </a:r>
          </a:p>
          <a:p>
            <a:pPr>
              <a:spcAft>
                <a:spcPts val="800"/>
              </a:spcAft>
              <a:defRPr sz="1800">
                <a:solidFill>
                  <a:srgbClr val="111820"/>
                </a:solidFill>
                <a:latin typeface="Aptos"/>
              </a:defRPr>
            </a:pPr>
            <a:r>
              <a:t>Give early holders playable advantages without making the core demo inaccessible.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737360"/>
            <a:ext cx="4343400" cy="1828800"/>
          </a:xfrm>
          <a:prstGeom prst="roundRect">
            <a:avLst/>
          </a:prstGeom>
          <a:solidFill>
            <a:srgbClr val="EFF7F6"/>
          </a:solidFill>
          <a:ln>
            <a:solidFill>
              <a:srgbClr val="CC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37960" y="1737360"/>
            <a:ext cx="73152" cy="182880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901952"/>
            <a:ext cx="39319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700" b="1">
                <a:solidFill>
                  <a:srgbClr val="111820"/>
                </a:solidFill>
                <a:latin typeface="Aptos"/>
              </a:rPr>
              <a:t>Collaboration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331720"/>
            <a:ext cx="3931920" cy="10972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566170"/>
                </a:solidFill>
                <a:latin typeface="Aptos"/>
              </a:rPr>
              <a:t>Existing NFT collections can add powers to their in-world NPCs through partner metadata, allowlists, or collection-specific rules.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3886200"/>
            <a:ext cx="4343400" cy="1325880"/>
          </a:xfrm>
          <a:prstGeom prst="roundRect">
            <a:avLst/>
          </a:prstGeom>
          <a:solidFill>
            <a:srgbClr val="EFF7F6"/>
          </a:solidFill>
          <a:ln>
            <a:solidFill>
              <a:srgbClr val="CC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37960" y="3886200"/>
            <a:ext cx="73152" cy="1325880"/>
          </a:xfrm>
          <a:prstGeom prst="rect">
            <a:avLst/>
          </a:prstGeom>
          <a:solidFill>
            <a:srgbClr val="BC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4050791"/>
            <a:ext cx="39319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700" b="1">
                <a:solidFill>
                  <a:srgbClr val="111820"/>
                </a:solidFill>
                <a:latin typeface="Aptos"/>
              </a:rPr>
              <a:t>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4480560"/>
            <a:ext cx="3931920" cy="59435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566170"/>
                </a:solidFill>
                <a:latin typeface="Aptos"/>
              </a:rPr>
              <a:t>Primary mint, partner integrations, sponsored arenas, seasonal passes, and collection activation campaigns.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510528"/>
            <a:ext cx="54864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566170"/>
                </a:solidFill>
                <a:latin typeface="Aptos"/>
              </a:rPr>
              <a:t>NFT Massacre | Solana Hackathon Pitch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10528"/>
            <a:ext cx="4572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566170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0" y="0"/>
            <a:ext cx="4517136" cy="164592"/>
          </a:xfrm>
          <a:prstGeom prst="rect">
            <a:avLst/>
          </a:prstGeom>
          <a:solidFill>
            <a:srgbClr val="BC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972800" cy="6400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3400" b="1">
                <a:solidFill>
                  <a:srgbClr val="111820"/>
                </a:solidFill>
                <a:latin typeface="Aptos"/>
              </a:rPr>
              <a:t>Future Development: Wallet PvP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24712"/>
            <a:ext cx="10607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566170"/>
                </a:solidFill>
                <a:latin typeface="Aptos"/>
              </a:rPr>
              <a:t>The next obvious mode is wallet-vs-wallet combat.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5120640" cy="4114800"/>
          </a:xfrm>
          <a:prstGeom prst="rect">
            <a:avLst/>
          </a:prstGeom>
          <a:noFill/>
        </p:spPr>
        <p:txBody>
          <a:bodyPr wrap="none" lIns="1828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11820"/>
                </a:solidFill>
                <a:latin typeface="Aptos"/>
              </a:defRPr>
            </a:pPr>
            <a:r>
              <a:t>Two wallets load as opposing teams.</a:t>
            </a:r>
          </a:p>
          <a:p>
            <a:pPr>
              <a:spcAft>
                <a:spcPts val="800"/>
              </a:spcAft>
              <a:defRPr sz="1800">
                <a:solidFill>
                  <a:srgbClr val="111820"/>
                </a:solidFill>
                <a:latin typeface="Aptos"/>
              </a:defRPr>
            </a:pPr>
            <a:r>
              <a:t>Collection communities become factions.</a:t>
            </a:r>
          </a:p>
          <a:p>
            <a:pPr>
              <a:spcAft>
                <a:spcPts val="800"/>
              </a:spcAft>
              <a:defRPr sz="1800">
                <a:solidFill>
                  <a:srgbClr val="111820"/>
                </a:solidFill>
                <a:latin typeface="Aptos"/>
              </a:defRPr>
            </a:pPr>
            <a:r>
              <a:t>Metadata can define classes, stats, abilities, and rarity modifiers.</a:t>
            </a:r>
          </a:p>
          <a:p>
            <a:pPr>
              <a:spcAft>
                <a:spcPts val="800"/>
              </a:spcAft>
              <a:defRPr sz="1800">
                <a:solidFill>
                  <a:srgbClr val="111820"/>
                </a:solidFill>
                <a:latin typeface="Aptos"/>
              </a:defRPr>
            </a:pPr>
            <a:r>
              <a:t>Solana NFTs can kill Ethereum NFTs, and vice versa.</a:t>
            </a:r>
          </a:p>
          <a:p>
            <a:pPr>
              <a:spcAft>
                <a:spcPts val="800"/>
              </a:spcAft>
              <a:defRPr sz="1800">
                <a:solidFill>
                  <a:srgbClr val="111820"/>
                </a:solidFill>
                <a:latin typeface="Aptos"/>
              </a:defRPr>
            </a:pPr>
            <a:r>
              <a:t>Matches can generate rankings, clips, rewards, and onchain badges.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74519"/>
            <a:ext cx="4480560" cy="1965960"/>
          </a:xfrm>
          <a:prstGeom prst="roundRect">
            <a:avLst/>
          </a:prstGeom>
          <a:solidFill>
            <a:srgbClr val="EFF7F6"/>
          </a:solidFill>
          <a:ln>
            <a:solidFill>
              <a:srgbClr val="CC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874519"/>
            <a:ext cx="73152" cy="1965960"/>
          </a:xfrm>
          <a:prstGeom prst="rect">
            <a:avLst/>
          </a:prstGeom>
          <a:solidFill>
            <a:srgbClr val="D6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039112"/>
            <a:ext cx="406908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700" b="1">
                <a:solidFill>
                  <a:srgbClr val="111820"/>
                </a:solidFill>
                <a:latin typeface="Aptos"/>
              </a:rPr>
              <a:t>The Meme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468879"/>
            <a:ext cx="4069080" cy="123443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566170"/>
                </a:solidFill>
                <a:latin typeface="Aptos"/>
              </a:rPr>
              <a:t>My NFTs can beat up your NFTs.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160520"/>
            <a:ext cx="4480560" cy="1051560"/>
          </a:xfrm>
          <a:prstGeom prst="roundRect">
            <a:avLst/>
          </a:prstGeom>
          <a:solidFill>
            <a:srgbClr val="EFF7F6"/>
          </a:solidFill>
          <a:ln>
            <a:solidFill>
              <a:srgbClr val="CC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4160520"/>
            <a:ext cx="73152" cy="105156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4325112"/>
            <a:ext cx="406908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700" b="1">
                <a:solidFill>
                  <a:srgbClr val="111820"/>
                </a:solidFill>
                <a:latin typeface="Aptos"/>
              </a:rPr>
              <a:t>The 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754880"/>
            <a:ext cx="4069080" cy="32003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566170"/>
                </a:solidFill>
                <a:latin typeface="Aptos"/>
              </a:rPr>
              <a:t>Wallet-native PvP built from existing onchain inventories.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510528"/>
            <a:ext cx="54864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566170"/>
                </a:solidFill>
                <a:latin typeface="Aptos"/>
              </a:rPr>
              <a:t>NFT Massacre | Solana Hackathon Pitch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10528"/>
            <a:ext cx="4572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56617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0" y="0"/>
            <a:ext cx="4517136" cy="164592"/>
          </a:xfrm>
          <a:prstGeom prst="rect">
            <a:avLst/>
          </a:prstGeom>
          <a:solidFill>
            <a:srgbClr val="BC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972800" cy="6400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3400" b="1">
                <a:solidFill>
                  <a:srgbClr val="111820"/>
                </a:solidFill>
                <a:latin typeface="Aptos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24712"/>
            <a:ext cx="10607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566170"/>
                </a:solidFill>
                <a:latin typeface="Aptos"/>
              </a:rPr>
              <a:t>A pragmatic path from hackathon prototype to repeatable product.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291840" cy="3566160"/>
          </a:xfrm>
          <a:prstGeom prst="roundRect">
            <a:avLst/>
          </a:prstGeom>
          <a:solidFill>
            <a:srgbClr val="EFF7F6"/>
          </a:solidFill>
          <a:ln>
            <a:solidFill>
              <a:srgbClr val="CC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356616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81912"/>
            <a:ext cx="288036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700" b="1">
                <a:solidFill>
                  <a:srgbClr val="111820"/>
                </a:solidFill>
                <a:latin typeface="Aptos"/>
              </a:rPr>
              <a:t>0-30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2880360" cy="283463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566170"/>
                </a:solidFill>
                <a:latin typeface="Aptos"/>
              </a:rPr>
              <a:t>Solana wallet adapter
Better Solana NFT metadata
Demo polish
Scoring and rounds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291840" cy="3566160"/>
          </a:xfrm>
          <a:prstGeom prst="roundRect">
            <a:avLst/>
          </a:prstGeom>
          <a:solidFill>
            <a:srgbClr val="EFF7F6"/>
          </a:solidFill>
          <a:ln>
            <a:solidFill>
              <a:srgbClr val="CC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73152" cy="3566160"/>
          </a:xfrm>
          <a:prstGeom prst="rect">
            <a:avLst/>
          </a:prstGeom>
          <a:solidFill>
            <a:srgbClr val="BC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581912"/>
            <a:ext cx="288036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700" b="1">
                <a:solidFill>
                  <a:srgbClr val="111820"/>
                </a:solidFill>
                <a:latin typeface="Aptos"/>
              </a:rPr>
              <a:t>30-90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11680"/>
            <a:ext cx="2880360" cy="283463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566170"/>
                </a:solidFill>
                <a:latin typeface="Aptos"/>
              </a:rPr>
              <a:t>Powered NFT collection
Collection-specific abilities
Leaderboards
Shareable clips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17320"/>
            <a:ext cx="3291840" cy="3566160"/>
          </a:xfrm>
          <a:prstGeom prst="roundRect">
            <a:avLst/>
          </a:prstGeom>
          <a:solidFill>
            <a:srgbClr val="EFF7F6"/>
          </a:solidFill>
          <a:ln>
            <a:solidFill>
              <a:srgbClr val="CC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417320"/>
            <a:ext cx="73152" cy="3566160"/>
          </a:xfrm>
          <a:prstGeom prst="rect">
            <a:avLst/>
          </a:prstGeom>
          <a:solidFill>
            <a:srgbClr val="F47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581912"/>
            <a:ext cx="288036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700" b="1">
                <a:solidFill>
                  <a:srgbClr val="111820"/>
                </a:solidFill>
                <a:latin typeface="Aptos"/>
              </a:rPr>
              <a:t>90+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011680"/>
            <a:ext cx="2880360" cy="283463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566170"/>
                </a:solidFill>
                <a:latin typeface="Aptos"/>
              </a:rPr>
              <a:t>Wallet PvP
Partner collection SDK
Sponsored arenas
Onchain rewards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510528"/>
            <a:ext cx="54864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566170"/>
                </a:solidFill>
                <a:latin typeface="Aptos"/>
              </a:rPr>
              <a:t>NFT Massacre | Solana Hackathon Pitch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510528"/>
            <a:ext cx="4572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56617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0" y="0"/>
            <a:ext cx="4517136" cy="164592"/>
          </a:xfrm>
          <a:prstGeom prst="rect">
            <a:avLst/>
          </a:prstGeom>
          <a:solidFill>
            <a:srgbClr val="BC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972800" cy="6400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3400" b="1">
                <a:solidFill>
                  <a:srgbClr val="111820"/>
                </a:solidFill>
                <a:latin typeface="Aptos"/>
              </a:rPr>
              <a:t>Why This Wins A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24712"/>
            <a:ext cx="10607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566170"/>
                </a:solidFill>
                <a:latin typeface="Aptos"/>
              </a:rPr>
              <a:t>It is funny, demoable, technically real, and commercially expandable.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5669280" cy="4389120"/>
          </a:xfrm>
          <a:prstGeom prst="rect">
            <a:avLst/>
          </a:prstGeom>
          <a:noFill/>
        </p:spPr>
        <p:txBody>
          <a:bodyPr wrap="none" lIns="1828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11820"/>
                </a:solidFill>
                <a:latin typeface="Aptos"/>
              </a:defRPr>
            </a:pPr>
            <a:r>
              <a:t>Judges understand it immediately.</a:t>
            </a:r>
          </a:p>
          <a:p>
            <a:pPr>
              <a:spcAft>
                <a:spcPts val="800"/>
              </a:spcAft>
              <a:defRPr sz="1800">
                <a:solidFill>
                  <a:srgbClr val="111820"/>
                </a:solidFill>
                <a:latin typeface="Aptos"/>
              </a:defRPr>
            </a:pPr>
            <a:r>
              <a:t>The demo has a strong reveal: wallet assets become in-world actors.</a:t>
            </a:r>
          </a:p>
          <a:p>
            <a:pPr>
              <a:spcAft>
                <a:spcPts val="800"/>
              </a:spcAft>
              <a:defRPr sz="1800">
                <a:solidFill>
                  <a:srgbClr val="111820"/>
                </a:solidFill>
                <a:latin typeface="Aptos"/>
              </a:defRPr>
            </a:pPr>
            <a:r>
              <a:t>It directly addresses the post-hype NFT market.</a:t>
            </a:r>
          </a:p>
          <a:p>
            <a:pPr>
              <a:spcAft>
                <a:spcPts val="800"/>
              </a:spcAft>
              <a:defRPr sz="1800">
                <a:solidFill>
                  <a:srgbClr val="111820"/>
                </a:solidFill>
                <a:latin typeface="Aptos"/>
              </a:defRPr>
            </a:pPr>
            <a:r>
              <a:t>It uses Solana for the right reasons: fast, cheap, consumer-friendly interactions.</a:t>
            </a:r>
          </a:p>
          <a:p>
            <a:pPr>
              <a:spcAft>
                <a:spcPts val="800"/>
              </a:spcAft>
              <a:defRPr sz="1800">
                <a:solidFill>
                  <a:srgbClr val="111820"/>
                </a:solidFill>
                <a:latin typeface="Aptos"/>
              </a:defRPr>
            </a:pPr>
            <a:r>
              <a:t>It has an obvious next economy: powers, collection partnerships, and PvP.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6600" y="1920240"/>
            <a:ext cx="3520440" cy="2286000"/>
          </a:xfrm>
          <a:prstGeom prst="roundRect">
            <a:avLst/>
          </a:prstGeom>
          <a:solidFill>
            <a:srgbClr val="EFF7F6"/>
          </a:solidFill>
          <a:ln>
            <a:solidFill>
              <a:srgbClr val="CC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86600" y="1920240"/>
            <a:ext cx="73152" cy="228600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2084832"/>
            <a:ext cx="310896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700" b="1">
                <a:solidFill>
                  <a:srgbClr val="111820"/>
                </a:solidFill>
                <a:latin typeface="Aptos"/>
              </a:rPr>
              <a:t>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514600"/>
            <a:ext cx="3108960" cy="1554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566170"/>
                </a:solidFill>
                <a:latin typeface="Aptos"/>
              </a:rPr>
              <a:t>Hackathon money funds the powered collection, Solana wallet polish, and partner collection ability system.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510528"/>
            <a:ext cx="54864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566170"/>
                </a:solidFill>
                <a:latin typeface="Aptos"/>
              </a:rPr>
              <a:t>NFT Massacre | Solana Hackathon Pitch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10528"/>
            <a:ext cx="4572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56617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0" y="0"/>
            <a:ext cx="4517136" cy="164592"/>
          </a:xfrm>
          <a:prstGeom prst="rect">
            <a:avLst/>
          </a:prstGeom>
          <a:solidFill>
            <a:srgbClr val="BC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972800" cy="6400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3400" b="1">
                <a:solidFill>
                  <a:srgbClr val="111820"/>
                </a:solidFill>
                <a:latin typeface="Aptos"/>
              </a:rPr>
              <a:t>Sources And Market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24712"/>
            <a:ext cx="10607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566170"/>
                </a:solidFill>
                <a:latin typeface="Aptos"/>
              </a:rPr>
              <a:t>Market data is volatile; use these as directional points for the pitch deck.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698480" cy="4389120"/>
          </a:xfrm>
          <a:prstGeom prst="rect">
            <a:avLst/>
          </a:prstGeom>
          <a:noFill/>
        </p:spPr>
        <p:txBody>
          <a:bodyPr wrap="none" l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11820"/>
                </a:solidFill>
                <a:latin typeface="Aptos"/>
              </a:defRPr>
            </a:pPr>
            <a:r>
              <a:t>The Block, 2026 NFTs &amp; Gaming Outlook: annualized 2025 NFT trade volume around $5.5B.</a:t>
            </a:r>
          </a:p>
          <a:p>
            <a:pPr>
              <a:spcAft>
                <a:spcPts val="800"/>
              </a:spcAft>
              <a:defRPr sz="1400">
                <a:solidFill>
                  <a:srgbClr val="111820"/>
                </a:solidFill>
                <a:latin typeface="Aptos"/>
              </a:defRPr>
            </a:pPr>
            <a:r>
              <a:t>Cointelegraph citing CryptoSlam/DappRadar, Jul 2025: H1 2025 NFT sales reached $2.82B; Q2 sales count hit 12.5M, up 78% QoQ.</a:t>
            </a:r>
          </a:p>
          <a:p>
            <a:pPr>
              <a:spcAft>
                <a:spcPts val="800"/>
              </a:spcAft>
              <a:defRPr sz="1400">
                <a:solidFill>
                  <a:srgbClr val="111820"/>
                </a:solidFill>
                <a:latin typeface="Aptos"/>
              </a:defRPr>
            </a:pPr>
            <a:r>
              <a:t>DappRadar State of the Dapp Industry Q3 2025: 18.1M NFTs sold and $1.6B trading volume in Q3 2025.</a:t>
            </a:r>
          </a:p>
          <a:p>
            <a:pPr>
              <a:spcAft>
                <a:spcPts val="800"/>
              </a:spcAft>
              <a:defRPr sz="1400">
                <a:solidFill>
                  <a:srgbClr val="111820"/>
                </a:solidFill>
                <a:latin typeface="Aptos"/>
              </a:defRPr>
            </a:pPr>
            <a:r>
              <a:t>Phemex/CryptoSlam coverage, Apr 2026: NFT buyers up 91.71% to 103,182 for the week ending Apr 20, 2026; Ethereum led blockchain sales with $21.91M.</a:t>
            </a:r>
          </a:p>
          <a:p>
            <a:pPr>
              <a:spcAft>
                <a:spcPts val="800"/>
              </a:spcAft>
              <a:defRPr sz="1400">
                <a:solidFill>
                  <a:srgbClr val="111820"/>
                </a:solidFill>
                <a:latin typeface="Aptos"/>
              </a:defRPr>
            </a:pPr>
            <a:r>
              <a:t>MEXC/CryptoSlam coverage, Feb 2026: Solana recorded about $2.05M weekly NFT volume and 44,787 buyers in a February market snapshot.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97880"/>
            <a:ext cx="103327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0">
                <a:solidFill>
                  <a:srgbClr val="566170"/>
                </a:solidFill>
                <a:latin typeface="Aptos"/>
              </a:rPr>
              <a:t>Deck generated May 4, 2026 for NFT Massacre / nftmassacre.github.io.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54864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566170"/>
                </a:solidFill>
                <a:latin typeface="Aptos"/>
              </a:rPr>
              <a:t>NFT Massacre | Solana Hackathon Pitch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10528"/>
            <a:ext cx="4572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56617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